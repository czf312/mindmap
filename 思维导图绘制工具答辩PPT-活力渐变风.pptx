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202e9d71f54bee" /><Relationship Type="http://schemas.openxmlformats.org/officeDocument/2006/relationships/extended-properties" Target="/docProps/app.xml" Id="R97c2da7d0c184e32" /><Relationship Type="http://schemas.openxmlformats.org/officeDocument/2006/relationships/officeDocument" Target="/ppt/presentation.xml" Id="R7b4f07f4dbef47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7f8eddafd74fb5"/>
  </p:sldMasterIdLst>
  <p:notesMasterIdLst>
    <p:notesMasterId xmlns:r="http://schemas.openxmlformats.org/officeDocument/2006/relationships" r:id="Rc7d7fa8cae114328"/>
  </p:notesMasterIdLst>
  <p:sldIdLst>
    <p:sldId xmlns:r="http://schemas.openxmlformats.org/officeDocument/2006/relationships" id="256" r:id="Rcb9c00991125401e"/>
    <p:sldId xmlns:r="http://schemas.openxmlformats.org/officeDocument/2006/relationships" id="257" r:id="R0125e5388d884bb8"/>
    <p:sldId xmlns:r="http://schemas.openxmlformats.org/officeDocument/2006/relationships" id="258" r:id="R89fa9b9e50ea4b20"/>
    <p:sldId xmlns:r="http://schemas.openxmlformats.org/officeDocument/2006/relationships" id="259" r:id="Rc3e28aaaf8834fc3"/>
    <p:sldId xmlns:r="http://schemas.openxmlformats.org/officeDocument/2006/relationships" id="260" r:id="R9d12417a30fa418e"/>
    <p:sldId xmlns:r="http://schemas.openxmlformats.org/officeDocument/2006/relationships" id="261" r:id="R7ea563300edf4caf"/>
    <p:sldId xmlns:r="http://schemas.openxmlformats.org/officeDocument/2006/relationships" id="262" r:id="R5f231b91db0e47ce"/>
    <p:sldId xmlns:r="http://schemas.openxmlformats.org/officeDocument/2006/relationships" id="263" r:id="Rdcbe264fa4084497"/>
    <p:sldId xmlns:r="http://schemas.openxmlformats.org/officeDocument/2006/relationships" id="264" r:id="R3cd27648117341b1"/>
    <p:sldId xmlns:r="http://schemas.openxmlformats.org/officeDocument/2006/relationships" id="265" r:id="R057692f634854e75"/>
    <p:sldId xmlns:r="http://schemas.openxmlformats.org/officeDocument/2006/relationships" id="266" r:id="R44b1fb58af8f4a40"/>
    <p:sldId xmlns:r="http://schemas.openxmlformats.org/officeDocument/2006/relationships" id="267" r:id="R81515d2401bd4b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f8eddafd74fb5" /><Relationship Type="http://schemas.openxmlformats.org/officeDocument/2006/relationships/theme" Target="/ppt/theme/theme1.xml" Id="R5e00606c1a394990" /><Relationship Type="http://schemas.openxmlformats.org/officeDocument/2006/relationships/notesMaster" Target="/ppt/notesMasters/notesMaster1.xml" Id="Rc7d7fa8cae114328" /><Relationship Type="http://schemas.openxmlformats.org/officeDocument/2006/relationships/presProps" Target="/ppt/presProps.xml" Id="Re0cf4280abc444fe" /><Relationship Type="http://schemas.openxmlformats.org/officeDocument/2006/relationships/viewProps" Target="/ppt/viewProps.xml" Id="R51d1c92d287a4b50" /><Relationship Type="http://schemas.openxmlformats.org/officeDocument/2006/relationships/tableStyles" Target="/ppt/tableStyles.xml" Id="R5aeebd4e4db54abd" /><Relationship Type="http://schemas.openxmlformats.org/officeDocument/2006/relationships/slide" Target="/ppt/slides/slide1.xml" Id="Rcb9c00991125401e" /><Relationship Type="http://schemas.openxmlformats.org/officeDocument/2006/relationships/slide" Target="/ppt/slides/slide2.xml" Id="R0125e5388d884bb8" /><Relationship Type="http://schemas.openxmlformats.org/officeDocument/2006/relationships/slide" Target="/ppt/slides/slide3.xml" Id="R89fa9b9e50ea4b20" /><Relationship Type="http://schemas.openxmlformats.org/officeDocument/2006/relationships/slide" Target="/ppt/slides/slide4.xml" Id="Rc3e28aaaf8834fc3" /><Relationship Type="http://schemas.openxmlformats.org/officeDocument/2006/relationships/slide" Target="/ppt/slides/slide5.xml" Id="R9d12417a30fa418e" /><Relationship Type="http://schemas.openxmlformats.org/officeDocument/2006/relationships/slide" Target="/ppt/slides/slide6.xml" Id="R7ea563300edf4caf" /><Relationship Type="http://schemas.openxmlformats.org/officeDocument/2006/relationships/slide" Target="/ppt/slides/slide7.xml" Id="R5f231b91db0e47ce" /><Relationship Type="http://schemas.openxmlformats.org/officeDocument/2006/relationships/slide" Target="/ppt/slides/slide8.xml" Id="Rdcbe264fa4084497" /><Relationship Type="http://schemas.openxmlformats.org/officeDocument/2006/relationships/slide" Target="/ppt/slides/slide9.xml" Id="R3cd27648117341b1" /><Relationship Type="http://schemas.openxmlformats.org/officeDocument/2006/relationships/slide" Target="/ppt/slides/slide10.xml" Id="R057692f634854e75" /><Relationship Type="http://schemas.openxmlformats.org/officeDocument/2006/relationships/slide" Target="/ppt/slides/slide11.xml" Id="R44b1fb58af8f4a40" /><Relationship Type="http://schemas.openxmlformats.org/officeDocument/2006/relationships/slide" Target="/ppt/slides/slide12.xml" Id="R81515d2401bd4b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d577e73afe247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36c1f213824b0d" /><Relationship Type="http://schemas.openxmlformats.org/officeDocument/2006/relationships/notesMaster" Target="/ppt/notesMasters/notesMaster1.xml" Id="R143ab5f18bde45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043880f6a7451b" /><Relationship Type="http://schemas.openxmlformats.org/officeDocument/2006/relationships/notesMaster" Target="/ppt/notesMasters/notesMaster1.xml" Id="Rdea4cc8f031a49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ee8281f17c4f78" /><Relationship Type="http://schemas.openxmlformats.org/officeDocument/2006/relationships/notesMaster" Target="/ppt/notesMasters/notesMaster1.xml" Id="R45a2d9cf2c2d45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e222c17a2a4fd5" /><Relationship Type="http://schemas.openxmlformats.org/officeDocument/2006/relationships/notesMaster" Target="/ppt/notesMasters/notesMaster1.xml" Id="Rddf3f6fe08c943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b2d595dde44ed8" /><Relationship Type="http://schemas.openxmlformats.org/officeDocument/2006/relationships/notesMaster" Target="/ppt/notesMasters/notesMaster1.xml" Id="R44a70f9c1a854e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7ee678abe8450d" /><Relationship Type="http://schemas.openxmlformats.org/officeDocument/2006/relationships/notesMaster" Target="/ppt/notesMasters/notesMaster1.xml" Id="R6d9d8cac903041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f4ba5a9cd645a3" /><Relationship Type="http://schemas.openxmlformats.org/officeDocument/2006/relationships/notesMaster" Target="/ppt/notesMasters/notesMaster1.xml" Id="Re2216996f92945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4c487a3c694fe0" /><Relationship Type="http://schemas.openxmlformats.org/officeDocument/2006/relationships/notesMaster" Target="/ppt/notesMasters/notesMaster1.xml" Id="R7fc5fa35fcc146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91ace9b3c64e8f" /><Relationship Type="http://schemas.openxmlformats.org/officeDocument/2006/relationships/notesMaster" Target="/ppt/notesMasters/notesMaster1.xml" Id="Ra4e0272e87be4c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a206d9d4ce4ce2" /><Relationship Type="http://schemas.openxmlformats.org/officeDocument/2006/relationships/notesMaster" Target="/ppt/notesMasters/notesMaster1.xml" Id="Rb4993776c55940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58ddce07ca4ed9" /><Relationship Type="http://schemas.openxmlformats.org/officeDocument/2006/relationships/notesMaster" Target="/ppt/notesMasters/notesMaster1.xml" Id="R1d2820d401614d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41d58c938a4572" /><Relationship Type="http://schemas.openxmlformats.org/officeDocument/2006/relationships/notesMaster" Target="/ppt/notesMasters/notesMaster1.xml" Id="Rb390ba00203a49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9127803da40a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5ca424c62744770" /><Relationship Type="http://schemas.openxmlformats.org/officeDocument/2006/relationships/slideLayout" Target="/ppt/slideLayouts/slideLayout2.xml" Id="R8c039848720448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039848720448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c97e9e138c4cc1" /><Relationship Type="http://schemas.openxmlformats.org/officeDocument/2006/relationships/image" Target="/ppt/media/image.png" Id="R99e27f50a9c247ad" /><Relationship Type="http://schemas.openxmlformats.org/officeDocument/2006/relationships/notesSlide" Target="/ppt/notesSlides/notesSlide1.xml" Id="R3750c0421f9342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15709ef7c240c6" /><Relationship Type="http://schemas.openxmlformats.org/officeDocument/2006/relationships/image" Target="/ppt/media/image2.png" Id="R7afe5ddf928b4556" /><Relationship Type="http://schemas.openxmlformats.org/officeDocument/2006/relationships/notesSlide" Target="/ppt/notesSlides/notesSlide2.xml" Id="R39dd9331adf04b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02247964f6439d" /><Relationship Type="http://schemas.openxmlformats.org/officeDocument/2006/relationships/notesSlide" Target="/ppt/notesSlides/notesSlide3.xml" Id="R8f8ac57b68fd4c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b8ecf4bcfc4b8d" /><Relationship Type="http://schemas.openxmlformats.org/officeDocument/2006/relationships/notesSlide" Target="/ppt/notesSlides/notesSlide4.xml" Id="R3ac31109a7ef48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cf5ed7ff554069" /><Relationship Type="http://schemas.openxmlformats.org/officeDocument/2006/relationships/notesSlide" Target="/ppt/notesSlides/notesSlide5.xml" Id="R37a1cf62106b48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42ddb16b204b6b" /><Relationship Type="http://schemas.openxmlformats.org/officeDocument/2006/relationships/image" Target="/ppt/media/image3.png" Id="Rcb1403778e544fb7" /><Relationship Type="http://schemas.openxmlformats.org/officeDocument/2006/relationships/notesSlide" Target="/ppt/notesSlides/notesSlide6.xml" Id="Rff7d375576754b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675b4a83064461" /><Relationship Type="http://schemas.openxmlformats.org/officeDocument/2006/relationships/notesSlide" Target="/ppt/notesSlides/notesSlide7.xml" Id="R17875def1ba14a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ecd37da285446b" /><Relationship Type="http://schemas.openxmlformats.org/officeDocument/2006/relationships/notesSlide" Target="/ppt/notesSlides/notesSlide8.xml" Id="R5a09a16aed5644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2bb1aecc3f4293" /><Relationship Type="http://schemas.openxmlformats.org/officeDocument/2006/relationships/notesSlide" Target="/ppt/notesSlides/notesSlide9.xml" Id="R5de78d6a418e4d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e4b3ca0f6a450d" /><Relationship Type="http://schemas.openxmlformats.org/officeDocument/2006/relationships/image" Target="/ppt/media/image4.png" Id="R43eb67d605934483" /><Relationship Type="http://schemas.openxmlformats.org/officeDocument/2006/relationships/notesSlide" Target="/ppt/notesSlides/notesSlide10.xml" Id="R7366e48b3d3e44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6e78fc20ad4cf5" /><Relationship Type="http://schemas.openxmlformats.org/officeDocument/2006/relationships/notesSlide" Target="/ppt/notesSlides/notesSlide11.xml" Id="R7739296de77046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796ff880e042ae" /><Relationship Type="http://schemas.openxmlformats.org/officeDocument/2006/relationships/image" Target="/ppt/media/image5.png" Id="R307ff9b8d7604b50" /><Relationship Type="http://schemas.openxmlformats.org/officeDocument/2006/relationships/notesSlide" Target="/ppt/notesSlides/notesSlide12.xml" Id="R02b51d72afb74d4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95A068-D811-4B38-A5C2-EF385580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27f50a9c247a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7D1AA-9E0B-4D9A-B3C9-45D73A5F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A50E5-BA70-4494-A396-BDE07191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324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37F58-CA4D-4888-BDB6-B79A8E39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0010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面向对象程序设计实践 · 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FEEA9-DB5A-4A0B-9F85-DD3E68AA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0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rPr>
              <a:t>思维导图绘制工具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D8BEC-587F-47F8-BF8B-77ECC30F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从课程题目到可维护的 JavaFX 桌面编辑器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CDB58-1C3B-4117-8A32-839329D3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Ribbon 工具栏 · 节点/连线编辑 · XML 存储 · PNG/JPG/PDF 导出 · JUnit 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76595-4353-4FB9-B0A3-17E955A7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219075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2F6BFF">
                <a:alpha val="50196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938D8-C54A-4FEC-8DA6-9AFF989B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F6BFF"/>
                </a:solidFill>
                <a:latin typeface="Microsoft YaHei UI"/>
                <a:ea typeface="Microsoft YaHei UI"/>
                <a:cs typeface="Microsoft YaHei UI"/>
              </a:rPr>
              <a:t>36+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AD987-FC43-41C3-9738-2E33B743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主要源码文件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9D742-8BCE-487E-BCD7-443689E0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按 MVC / Service / Renderer 拆分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D7B15-21C0-4A51-B242-F9455503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91000"/>
            <a:ext cx="219075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FF4F7B">
                <a:alpha val="50196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6B018-CACC-4045-90CB-9C69E4CF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434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4F7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F4F7B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1986F-AD5F-4C32-84BE-E37930F5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05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JUnit 测试通过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F144A-6F46-4FCD-BA1B-304AB335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33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覆盖行为、历史、搜索、几何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FA51F-5FD1-46DB-B173-9F3B295A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91000"/>
            <a:ext cx="219075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865DFF">
                <a:alpha val="50196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5C476-9FE6-4586-A559-60D277D3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434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65D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865DFF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EF07A3-DAC8-4745-BC99-0E99FF8E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05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导出格式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CCFDDD-5983-4060-97B1-7E820B48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933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PNG / JPG / PDF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462988-999A-4C61-9A15-56A3F85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912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 活力渐变风</a:t>
            </a:r>
          </a:p>
        </p:txBody>
      </p:sp>
    </p:spTree>
    <p:extLst>
      <p:ext uri="{BB962C8B-B14F-4D97-AF65-F5344CB8AC3E}">
        <p14:creationId xmlns:p14="http://schemas.microsoft.com/office/powerpoint/2010/main" val="15306140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804B03-4F98-4654-94C1-CE98828C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e5ddf928b455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CC185-DE80-401E-B5EC-AC2EB71A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CB023-644B-4B35-8DCB-C6F25778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6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48B3A-799C-48F8-A061-A3686592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思维导图绘制工具课程答辩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F3B59-A160-4F14-A334-5D6026F9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4BF69-AFA4-4D13-B4F4-DB1812C1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137F4A87-FB6D-429D-8515-3930C038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答辩路线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C6726-C124-4EAD-A91E-0B63B9E4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rPr>
              <a:t>先讲清楚做了什么，再说明为什么这样拆。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9CCE8-131A-4869-9FA9-CB1FFF98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整份 PPT 按“需求、设计、实现、验证、展望”推进，避免只罗列功能。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D3AD1-579F-4AB1-9EAE-1D85A5D8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0450"/>
            <a:ext cx="819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6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2288D-92B4-459D-B0D5-13C23452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1466850" cy="1619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FF4F7B">
                <a:alpha val="50196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928D1-12AF-4E62-804A-DE675C22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7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70303-CDF1-45DB-BBCB-EF1F8110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479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8094F-3C41-4041-8049-8B6D9094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系统分析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CB986-ED8A-473C-BA1A-DC648286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课程题目、用户角色、核心场景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59F42-42D2-49E0-985F-D7AF34B3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24150"/>
            <a:ext cx="1466850" cy="1619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FF7A3D">
                <a:alpha val="50196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04FB30-74E2-4621-8CC1-8E27170D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3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84852-6F99-48C8-9299-6C2B0C6C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3F23F-7D09-4713-BAAB-50F4B5AA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28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F0C8C-B6AA-40B0-955E-E77F6D89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099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MVC 分层、服务类与渲染类职责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0949A-2C14-43A7-8BA2-DAEC86F3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24150"/>
            <a:ext cx="1466850" cy="1619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2F6BFF">
                <a:alpha val="50196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0805F3-4019-4D4D-A6D3-03E26813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B634FF-1871-4C9C-959C-1D4D018F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479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3C97AF-437F-4164-807D-C2285929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28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系统实现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3343A2-C5B6-4F71-8AE6-443DF955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099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节点、连线、画布、导出与存储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8709F2-2871-418C-BD73-CA24B838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1466850" cy="1619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57C86A">
                <a:alpha val="50196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ED58F-BA1B-4D48-9133-ACA48043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C86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2DD17-B695-4970-8F35-BB3C6922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479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EC74E4-7CBD-471A-AAF5-4E47F16A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28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系统测试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BD5A29-9316-41EF-BDEC-5831587A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099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13 个 JUnit 用例与覆盖重点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2DB792-DF87-457A-A131-59306626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24150"/>
            <a:ext cx="1466850" cy="1619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865DFF">
                <a:alpha val="50196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806625-53D0-4EB4-AF6E-6F0399DE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53209B-BC43-4032-8EA7-2A6F9501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479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E0B029-1FAF-4015-A124-FD4F9A4F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28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总结展望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D0BA17-2ED8-4C7D-B81B-D8079B58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099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完成度、问题复盘与后续优化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448F7C-773F-4944-A267-7D5AEA5B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19700"/>
            <a:ext cx="561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主线：项目完成度 + 面向对象拆分 + 可验证质量</a:t>
            </a:r>
          </a:p>
        </p:txBody>
      </p:sp>
    </p:spTree>
    <p:extLst>
      <p:ext uri="{BB962C8B-B14F-4D97-AF65-F5344CB8AC3E}">
        <p14:creationId xmlns:p14="http://schemas.microsoft.com/office/powerpoint/2010/main" val="6052137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85ECAA-FB9C-48F9-9825-66D0235F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A5EB9-3307-4DB3-988C-4BD3102A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857250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3D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0A0D7-9012-4839-A314-3C93E44F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04775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E8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31D2E-F2BD-4BA6-B651-7402E3DC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191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D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D9296-6D0F-409D-8BAB-1F03506E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6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510C2-B66E-4412-BABC-AD85EB15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思维导图绘制工具课程答辩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8865B-D58C-4B50-9F2D-38E5F536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8A7EC-8202-4F7F-ADEE-16DBD043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3CA5E694-8E16-48C7-B59A-532AA8B9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C36EB-346D-4452-811C-1B9CC7E6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rPr>
              <a:t>基础题目解决“能画导图”，当前实现追求“像编辑器一样可用”。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10B99-3CAB-43EB-8646-759FAA4C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系统面向普通课程用户，重点是本地桌面编辑、保存、打开与导出。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B2240-FDB3-40E4-8728-48366F19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293370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DE6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4BC98-0016-4691-ADD5-5788261C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62500" cy="293370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DE6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D1594-A2D6-44BF-BD89-D935C44E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课程基础要求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30A0D0-993F-4446-AA57-D53BBFC7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76B4F-6A20-477C-83B2-57169FB3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Java 图形用户界面实现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60F5E-2C77-4534-A2A2-87E80E47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2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E0DEE-3B86-4642-A7FC-6151B791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创建、打开、保存 .mindmap 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A7391-B1DD-48A2-BF2F-BE80B3FD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C8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8E05A-A1ED-4C8F-8CA5-D042EC92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添加、删除、编辑节点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546A6-057C-41F4-A232-5A6C0E68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43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9FC33-0331-41B9-9035-AE84E5A6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导出为图片或文档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E53281-2ABD-4342-8205-A564E5E5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812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当前扩展目标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062937-7B55-4FBD-80A6-580D5FD3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102C67-845E-47E4-8240-2C8896E0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9085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Ribbon 化工具栏与结构栏联动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200313-6850-4D59-B67A-27CDF7BC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52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3DC08F-D0BA-428C-9E97-84436BDD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节点/连线均可选择和批量设置样式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C6C2FF-EEF2-4BDA-BA36-AFF5DB0C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48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85D31F-1A10-4516-BC81-3F5A722C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8145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查找替换、撤销重做、快捷键、右键菜单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44EC0B-69CD-43B8-9A8C-093D72F8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43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C8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4D84DB-B0FE-46A3-875E-A7AADC85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7675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导出进度、画布背景、PDF 输出与测试验证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62D153-61CA-4E68-9331-C2C55645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2450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结果：从作业题目升级为一套完整的轻量级思维导图编辑工作流。</a:t>
            </a:r>
          </a:p>
        </p:txBody>
      </p:sp>
    </p:spTree>
    <p:extLst>
      <p:ext uri="{BB962C8B-B14F-4D97-AF65-F5344CB8AC3E}">
        <p14:creationId xmlns:p14="http://schemas.microsoft.com/office/powerpoint/2010/main" val="19143132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35A8AE-484F-4CC1-A859-A8D9D409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A3BFE-5D08-418F-B743-E364B3EC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857250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3D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DEB43-22AF-4B3E-A270-E3509E81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04775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E8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8669D-DF1C-4921-9B82-92EAF08D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191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D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DE502-2142-42F3-91F7-019F1B84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6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AEFAD-A27F-46AC-8CCD-5A5D62EE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思维导图绘制工具课程答辩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E305E-E677-4B7E-8287-9C714300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2A19A-CE27-4C04-8DD8-3DB31D63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A5C45C08-41E6-4D95-A5F1-224D533F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功能总览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17AF5-9A24-4F4B-952C-4874F741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rPr>
              <a:t>功能按真实编辑流程组织，而不是按代码文件堆叠。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81283-26EA-46B4-9EE4-5BEABF41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下面六类能力共同构成“新建-编辑-排版-查找-导出-维护”的闭环。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C3221-9215-4C0D-B806-1047BFF6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08635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DE6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DBC95-8350-4BCE-B8CB-49852F0A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DAB3A-1F15-46FF-8AEF-0610B8FD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文件管理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3D312-8294-4F70-ACF0-A3882239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479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新建 / 打开 / 保存 / 另存为 / 最近打开 / 未保存确认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19808-52FC-461C-B9E6-BECBF9B7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08635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DE6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F7C98-4B0B-4458-A67D-4AC5C8B3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0D0B8-4DBA-4287-9D45-812D3BC6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5742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4F7B"/>
                </a:solidFill>
                <a:latin typeface="Microsoft YaHei"/>
                <a:ea typeface="Microsoft YaHei"/>
                <a:cs typeface="Microsoft YaHei"/>
              </a:rPr>
              <a:t>节点编辑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E8E94-EDAE-4A19-8DB1-E69A59EA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子节点 / 兄弟节点 / 删除 / 内联重命名 / 折叠展开 / 框选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76C100-633C-4EE3-B1B4-EE1685D8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08635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DE6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656C1-C26A-446B-B48D-8A6F0254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1D329-46AB-4536-98BE-05DF9BB3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7A3D"/>
                </a:solidFill>
                <a:latin typeface="Microsoft YaHei"/>
                <a:ea typeface="Microsoft YaHei"/>
                <a:cs typeface="Microsoft YaHei"/>
              </a:rPr>
              <a:t>样式控制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F2E3E-E531-4B18-A262-89638AE2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147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填充、边框、字体、字号、粗斜体、对齐、节点尺寸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7A55F3-1342-4D00-BF81-E16F0ED1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508635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DE6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0439D2-F7A8-4F83-8F51-F3C5D2B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623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86F0B-0922-4608-AD3B-D7AEEC1D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2422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65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65DFF"/>
                </a:solidFill>
                <a:latin typeface="Microsoft YaHei"/>
                <a:ea typeface="Microsoft YaHei"/>
                <a:cs typeface="Microsoft YaHei"/>
              </a:rPr>
              <a:t>连接线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D65F4-5B73-4DE9-BE51-A4DC1BC7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独立选择、多选、虚线/实线、曲线/折线、颜色与粗细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45665-8C06-4230-B8A2-A7183A34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508635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DE6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5E43E5-F2DA-4D7E-9B75-C15247AD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C8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785CE2-1402-4442-88D2-3E93B218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C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7C86A"/>
                </a:solidFill>
                <a:latin typeface="Microsoft YaHei"/>
                <a:ea typeface="Microsoft YaHei"/>
                <a:cs typeface="Microsoft YaHei"/>
              </a:rPr>
              <a:t>画布视图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ADA449-DB96-49B2-A63C-21AB829F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815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缩放滑杆、居中、结构栏收起、背景色、背景图片、统计栏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CBB78D-C44F-4BAA-AAFB-0FFB5A82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29100"/>
            <a:ext cx="508635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DE6F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176721-E1A1-4C75-ADD3-DD173215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291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C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6E6B24-655F-4023-ACDE-E0B51C9E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91025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C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C7E8"/>
                </a:solidFill>
                <a:latin typeface="Microsoft YaHei"/>
                <a:ea typeface="Microsoft YaHei"/>
                <a:cs typeface="Microsoft YaHei"/>
              </a:rPr>
              <a:t>查找导出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F3F898-8110-42A2-9923-C6923C3C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815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查找替换、PNG/JPG/PDF、高清快照、进度提示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65D728-797D-4AD9-89D8-4753650D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00700"/>
            <a:ext cx="7086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33D">
              <a:alpha val="90980"/>
            </a:srgbClr>
          </a:solidFill>
          <a:ln xmlns:a="http://schemas.openxmlformats.org/drawingml/2006/main" w="9525">
            <a:solidFill>
              <a:srgbClr val="1323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6A5B9A-5A3D-4DDF-AD80-8F4F3D3B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05475"/>
            <a:ext cx="647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一句话：用户可以在同一个界面内完成导图内容、样式、结构、导出和回退操作。</a:t>
            </a:r>
          </a:p>
        </p:txBody>
      </p:sp>
    </p:spTree>
    <p:extLst>
      <p:ext uri="{BB962C8B-B14F-4D97-AF65-F5344CB8AC3E}">
        <p14:creationId xmlns:p14="http://schemas.microsoft.com/office/powerpoint/2010/main" val="9893478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17D06F-0BE4-48D8-A3AB-CA82A2B7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A45E6-B1A6-48A9-AFF3-64FE0368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857250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3D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7E81F-8106-4E5F-84FB-4D476F21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04775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E8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612C9-BE68-41A7-A5A6-ABDB0D44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191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D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5BEFAB-1C18-4CB7-92AD-B700CFD5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6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B7B99-99D1-4E36-AF4F-75AFB5B4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思维导图绘制工具课程答辩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62022-9F41-4C0F-A28A-7ED5483A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4A170-E381-4C86-B76D-7D38AA3F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90B30DCA-9E36-4932-93CC-EB73434F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用户流程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0FC80-7160-46E1-BC59-BCFDD884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rPr>
              <a:t>核心体验是一条闭环：创建导图、编辑结构、调整样式、保存导出。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3389C-4C51-4841-A35A-EE4C5EEE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流程中每一步都有对应的界面反馈和异常处理。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13AD0-354C-443C-8121-D5035EA7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76550"/>
            <a:ext cx="9525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DE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09CD0-BE87-4F2C-9D33-84466710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4DE3E-7098-4FE8-B525-A4D8E237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90A12-C4CA-47F1-8C6C-F28758BB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62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新建/打开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78585-30EF-44BD-AEFD-E554B48B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初始化根节点或解析 .mindmap XML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C0260-9017-4616-AC7C-19EC78B1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CC1AA-3B5D-4583-991E-F8A53680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AA64B-1AB0-43D6-8C4A-3C9F2F1C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62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编辑节点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0A042-02B0-459A-B01F-B5433789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添加、删除、重命名、拖动、折叠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EA7B5C-EB53-4221-A7E2-4B9F8883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7E65B4-FC18-48BC-B49C-6479DB84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574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BD543E-363A-4DF5-A35C-E673DF55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62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排版样式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D9B45-C6BC-4CA9-9112-0EFA4522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670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布局切换、节点样式、连接线样式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775B9A-E2A0-4D62-A931-6ED1E20C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75B901-73D7-4EAF-ABEC-562415B4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CFFB5C-E087-44E7-B9B1-F9DBB849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62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查找回退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34360F-F809-4029-81B3-6EE20239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670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查找替换、撤销重做、批量选择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065D6C-E155-4C48-9D34-281F0745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81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C8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CCC771-C834-450C-A8C2-6B5A45C6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574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EBC03B-E97C-4FDD-8241-36BF27A0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3622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保存导出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1B8428-04D0-4DB0-B655-2C576E62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6670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保存 XML，导出 PNG/JPG/PDF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655686-6919-4B81-B7FC-FA57DAFD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10058400" cy="876300"/>
          </a:xfrm>
          <a:prstGeom xmlns:a="http://schemas.openxmlformats.org/drawingml/2006/main" prst="roundRect">
            <a:avLst>
              <a:gd name="adj" fmla="val 2391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DE6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264419-7FC2-46B2-B94F-AE275CB2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边界处理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180946-5CFC-4B55-B765-81A84D36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29175"/>
            <a:ext cx="7886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未保存修改弹出确认；打开失败不破坏当前导图；搜索定位隐藏节点时按需展开；导出耗时显示进度，完成后自动收起提示。</a:t>
            </a:r>
          </a:p>
        </p:txBody>
      </p:sp>
    </p:spTree>
    <p:extLst>
      <p:ext uri="{BB962C8B-B14F-4D97-AF65-F5344CB8AC3E}">
        <p14:creationId xmlns:p14="http://schemas.microsoft.com/office/powerpoint/2010/main" val="10616225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94E8CA-7BE2-432D-B250-62FA3BDB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403778e544fb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2D431-5A6B-4C29-B317-6350E242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470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36237-30E1-4AFF-8893-302CE014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6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B4A7B-F8B4-4269-9AAC-19C2E689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思维导图绘制工具课程答辩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78249-A64A-4BEE-842D-61D927B3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69699-093B-43D2-A179-28AA8BDA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75854BF6-CF5E-4838-9EC9-A988C3B6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B0066-63DA-4A8D-9EF7-86FD7B48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rPr>
              <a:t>项目按 MVC 组织，再把历史、搜索、几何和渲染职责继续下沉。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D8871-71B2-4890-B95A-80A154DA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Controller 只做协调，数据处理、文件读写、画布渲染分别交给更小的类。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097DE-73BD-48E2-B530-944794DC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3812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>
              <a:alpha val="94118"/>
            </a:srgbClr>
          </a:solidFill>
          <a:ln xmlns:a="http://schemas.openxmlformats.org/drawingml/2006/main" w="9525">
            <a:solidFill>
              <a:srgbClr val="2F6BFF">
                <a:alpha val="50196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7966A-92F1-42EF-85FF-F5A33052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38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0714CA-D0B2-4E2A-A27A-9EF74697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View 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721CB-48E5-4C8F-A644-3E4198A2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MainFrame</a:t>
            </a:r>
          </a:p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ToolbarPanel</a:t>
            </a:r>
          </a:p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MindMapCanvas</a:t>
            </a:r>
          </a:p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MindMapTreePanel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BA049-AB3E-4ED3-A89B-7B4E4F3D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23812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>
              <a:alpha val="94118"/>
            </a:srgbClr>
          </a:solidFill>
          <a:ln xmlns:a="http://schemas.openxmlformats.org/drawingml/2006/main" w="9525">
            <a:solidFill>
              <a:srgbClr val="FF4F7B">
                <a:alpha val="50196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7D186-067F-49E6-AC0B-47FA760E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238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9ED66-A589-4D5F-A5D4-05D6DF18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575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4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4F7B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27759-6B94-4FB1-87CC-001CA636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MindMapController</a:t>
            </a:r>
          </a:p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调度命令、状态和刷新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B3D89-ABD5-4B81-8070-A6036366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05050"/>
            <a:ext cx="23812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>
              <a:alpha val="94118"/>
            </a:srgbClr>
          </a:solidFill>
          <a:ln xmlns:a="http://schemas.openxmlformats.org/drawingml/2006/main" w="9525">
            <a:solidFill>
              <a:srgbClr val="FF7A3D">
                <a:alpha val="50196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4FBDE-15DB-4A9C-812F-581EFA85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05050"/>
            <a:ext cx="238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62D78-D4E3-4A21-BBDF-8E0BDBE5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146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7A3D"/>
                </a:solidFill>
                <a:latin typeface="Microsoft YaHei"/>
                <a:ea typeface="Microsoft YaHei"/>
                <a:cs typeface="Microsoft YaHei"/>
              </a:rPr>
              <a:t>Service 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B7A62F-B6A8-4ED5-9613-293F6163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3845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MindMapLayoutService</a:t>
            </a:r>
          </a:p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MindMapFileService</a:t>
            </a:r>
          </a:p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ImageExportService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767D4-E975-4569-AEB7-3FAEA313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52900"/>
            <a:ext cx="23812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>
              <a:alpha val="94118"/>
            </a:srgbClr>
          </a:solidFill>
          <a:ln xmlns:a="http://schemas.openxmlformats.org/drawingml/2006/main" w="9525">
            <a:solidFill>
              <a:srgbClr val="865DFF">
                <a:alpha val="50196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2C943A-D71C-4A0D-BF7C-F2388A11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52900"/>
            <a:ext cx="238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B8EF68-5F75-4A54-A829-2D5814C7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624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65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65DFF"/>
                </a:solidFill>
                <a:latin typeface="Microsoft YaHei"/>
                <a:ea typeface="Microsoft YaHei"/>
                <a:cs typeface="Microsoft YaHei"/>
              </a:rPr>
              <a:t>Renderer 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4C63D-5C0A-45DC-B220-910CEC29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8630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NodeRenderer</a:t>
            </a:r>
          </a:p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ConnectionRenderer</a:t>
            </a:r>
          </a:p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CanvasBackground</a:t>
            </a:r>
          </a:p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CanvasSnapshotter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0AAD58-4BFE-4DA2-BB82-8D467F12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10100"/>
            <a:ext cx="23812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>
              <a:alpha val="94118"/>
            </a:srgbClr>
          </a:solidFill>
          <a:ln xmlns:a="http://schemas.openxmlformats.org/drawingml/2006/main" w="9525">
            <a:solidFill>
              <a:srgbClr val="57C86A">
                <a:alpha val="50196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2C65C3-7DD1-442D-92CA-A44B692E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10100"/>
            <a:ext cx="2381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C8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3A2E1E-0E08-424A-B9F0-71BE8804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196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7C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7C86A"/>
                </a:solidFill>
                <a:latin typeface="Microsoft YaHei"/>
                <a:ea typeface="Microsoft YaHei"/>
                <a:cs typeface="Microsoft YaHei"/>
              </a:rPr>
              <a:t>Model 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AA3B41-B5CF-49DB-B868-54941FFF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4350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MindMap / MindNode</a:t>
            </a:r>
          </a:p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NodeStyle / SelectionModel</a:t>
            </a:r>
          </a:p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ConnectionStyle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7F5168-0D4A-4D8B-A353-45AEF7D2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86075"/>
            <a:ext cx="6096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2CFF10-5F6D-4254-8537-ACC512D0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86075"/>
            <a:ext cx="7239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C01D76-0431-408B-A28D-3720A53E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05200"/>
            <a:ext cx="381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02D64A-D712-4C7B-8147-050A931D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62550"/>
            <a:ext cx="7239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C8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1F4F46-DCE7-45BA-9096-85173F35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48100"/>
            <a:ext cx="381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C8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51C76D-B832-4B9A-A7E2-1D48706B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05500"/>
            <a:ext cx="8991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分层收益：同一项交互变化不再集中堆在 Controller 或 Canvas 中，后续维护更容易定位。</a:t>
            </a:r>
          </a:p>
        </p:txBody>
      </p:sp>
    </p:spTree>
    <p:extLst>
      <p:ext uri="{BB962C8B-B14F-4D97-AF65-F5344CB8AC3E}">
        <p14:creationId xmlns:p14="http://schemas.microsoft.com/office/powerpoint/2010/main" val="16659819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AC2E16-9508-4083-9E5D-4C46C71E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C73772-7FC1-4E11-ABBF-B0BCCD5F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857250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3D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B955F-C1F4-4C58-A723-8E670CEC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04775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E8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1F4BC-A9BE-4E3D-892C-FFE0625E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191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D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64EFD-FB4D-4840-A85C-F810E5C0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6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7C325-97B9-4736-8B74-6F8F2FB7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思维导图绘制工具课程答辩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163FB-40D9-401B-A05E-CCE4FBE7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DEE84-DACB-4F7C-88AF-5C01F566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47BD5C80-A470-4274-B12B-FA4A5BD6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数据模型与存储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41AA2-3FD0-4D36-9CA4-FEAC503C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rPr>
              <a:t>mindmap 文件同时保存结构与样式状态。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6DA45-8362-4E96-B8B2-1A2E3502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这让重新打开文件后能恢复布局、节点样式、连线样式、折叠状态和画布背景。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0262F-80E0-4257-8690-549F8FC4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1910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DE6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09CF8-6520-4A94-B651-93D0D8B5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核心对象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43FAF-5282-426C-8D67-83B0DADD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MindMap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62930-18AF-48A3-9F12-6E2CA30E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57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根节点、布局、画布背景、默认连线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465F2-602F-4293-B362-12C8EAD3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7B"/>
                </a:solidFill>
                <a:latin typeface="Microsoft YaHei"/>
                <a:ea typeface="Microsoft YaHei"/>
                <a:cs typeface="Microsoft YaHei"/>
              </a:rPr>
              <a:t>MindNode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13CE9-9BC2-4170-8236-278F2839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575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文本、父子关系、位置、尺寸、折叠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B732C-4F09-49EE-8FAA-57AB31B9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7A3D"/>
                </a:solidFill>
                <a:latin typeface="Microsoft YaHei"/>
                <a:ea typeface="Microsoft YaHei"/>
                <a:cs typeface="Microsoft YaHei"/>
              </a:rPr>
              <a:t>NodeStyle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6A7A5-ABF5-4F2F-ADF7-CAAFAF17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57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字体、字号、颜色、粗斜体、对齐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2C53C4-932C-49A1-9B2B-23F70BF9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65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65DFF"/>
                </a:solidFill>
                <a:latin typeface="Microsoft YaHei"/>
                <a:ea typeface="Microsoft YaHei"/>
                <a:cs typeface="Microsoft YaHei"/>
              </a:rPr>
              <a:t>ConnectionStyle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C1C4A-5EC9-4718-A131-C94BD081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57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颜色、粗细、虚线、曲线/折线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5ADD1-4A2C-48D9-892D-9E733E46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C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7C86A"/>
                </a:solidFill>
                <a:latin typeface="Microsoft YaHei"/>
                <a:ea typeface="Microsoft YaHei"/>
                <a:cs typeface="Microsoft YaHei"/>
              </a:rPr>
              <a:t>SelectionModel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D8F56F-DC5C-4A5E-84A3-E150B245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577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节点选择集合与连接线选择集合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B72246-82B2-4F57-9EA2-31B95F89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76450"/>
            <a:ext cx="59626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3233D">
              <a:alpha val="92157"/>
            </a:srgbClr>
          </a:solidFill>
          <a:ln xmlns:a="http://schemas.openxmlformats.org/drawingml/2006/main" w="9525">
            <a:solidFill>
              <a:srgbClr val="293E6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C5998-F615-4E27-804C-E9F9C8C2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28850"/>
            <a:ext cx="56197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A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AF4FF"/>
                </a:solidFill>
                <a:latin typeface="Consolas"/>
                <a:ea typeface="Consolas"/>
                <a:cs typeface="Consolas"/>
              </a:rPr>
              <a:t>&lt;mindmap layout="AUTO" background="#FFFFFF"</a:t>
            </a:r>
          </a:p>
          <a:p xmlns:a="http://schemas.openxmlformats.org/drawingml/2006/main">
            <a:pPr algn="l">
              <a:defRPr sz="1050" b="0">
                <a:solidFill>
                  <a:srgbClr val="EA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AF4FF"/>
                </a:solidFill>
                <a:latin typeface="Consolas"/>
                <a:ea typeface="Consolas"/>
                <a:cs typeface="Consolas"/>
              </a:rPr>
              <a:t>         canvasImage="file:///.../bg.png"&gt;</a:t>
            </a:r>
          </a:p>
          <a:p xmlns:a="http://schemas.openxmlformats.org/drawingml/2006/main">
            <a:pPr algn="l">
              <a:defRPr sz="1050" b="0">
                <a:solidFill>
                  <a:srgbClr val="EA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AF4FF"/>
                </a:solidFill>
                <a:latin typeface="Consolas"/>
                <a:ea typeface="Consolas"/>
                <a:cs typeface="Consolas"/>
              </a:rPr>
              <a:t>  &lt;defaultConnection color="#2F6BFF"</a:t>
            </a:r>
          </a:p>
          <a:p xmlns:a="http://schemas.openxmlformats.org/drawingml/2006/main">
            <a:pPr algn="l">
              <a:defRPr sz="1050" b="0">
                <a:solidFill>
                  <a:srgbClr val="EA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AF4FF"/>
                </a:solidFill>
                <a:latin typeface="Consolas"/>
                <a:ea typeface="Consolas"/>
                <a:cs typeface="Consolas"/>
              </a:rPr>
              <a:t>     width="2" dashed="false" shape="CURVE"/&gt;</a:t>
            </a:r>
          </a:p>
          <a:p xmlns:a="http://schemas.openxmlformats.org/drawingml/2006/main">
            <a:pPr algn="l">
              <a:defRPr sz="1050" b="0">
                <a:solidFill>
                  <a:srgbClr val="EA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AF4FF"/>
                </a:solidFill>
                <a:latin typeface="Consolas"/>
                <a:ea typeface="Consolas"/>
                <a:cs typeface="Consolas"/>
              </a:rPr>
              <a:t>  &lt;node id="root" text="中心主题"</a:t>
            </a:r>
          </a:p>
          <a:p xmlns:a="http://schemas.openxmlformats.org/drawingml/2006/main">
            <a:pPr algn="l">
              <a:defRPr sz="1050" b="0">
                <a:solidFill>
                  <a:srgbClr val="EA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AF4FF"/>
                </a:solidFill>
                <a:latin typeface="Consolas"/>
                <a:ea typeface="Consolas"/>
                <a:cs typeface="Consolas"/>
              </a:rPr>
              <a:t>        x="640" y="360" collapsed="false"</a:t>
            </a:r>
          </a:p>
          <a:p xmlns:a="http://schemas.openxmlformats.org/drawingml/2006/main">
            <a:pPr algn="l">
              <a:defRPr sz="1050" b="0">
                <a:solidFill>
                  <a:srgbClr val="EA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AF4FF"/>
                </a:solidFill>
                <a:latin typeface="Consolas"/>
                <a:ea typeface="Consolas"/>
                <a:cs typeface="Consolas"/>
              </a:rPr>
              <a:t>        fontFamily="宋体" fontSize="18"</a:t>
            </a:r>
          </a:p>
          <a:p xmlns:a="http://schemas.openxmlformats.org/drawingml/2006/main">
            <a:pPr algn="l">
              <a:defRPr sz="1050" b="0">
                <a:solidFill>
                  <a:srgbClr val="EA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AF4FF"/>
                </a:solidFill>
                <a:latin typeface="Consolas"/>
                <a:ea typeface="Consolas"/>
                <a:cs typeface="Consolas"/>
              </a:rPr>
              <a:t>        bold="true" align="CENTER"&gt;</a:t>
            </a:r>
          </a:p>
          <a:p xmlns:a="http://schemas.openxmlformats.org/drawingml/2006/main">
            <a:pPr algn="l">
              <a:defRPr sz="1050" b="0">
                <a:solidFill>
                  <a:srgbClr val="EA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AF4FF"/>
                </a:solidFill>
                <a:latin typeface="Consolas"/>
                <a:ea typeface="Consolas"/>
                <a:cs typeface="Consolas"/>
              </a:rPr>
              <a:t>    &lt;node id="n1" text="系统设计"</a:t>
            </a:r>
          </a:p>
          <a:p xmlns:a="http://schemas.openxmlformats.org/drawingml/2006/main">
            <a:pPr algn="l">
              <a:defRPr sz="1050" b="0">
                <a:solidFill>
                  <a:srgbClr val="EA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AF4FF"/>
                </a:solidFill>
                <a:latin typeface="Consolas"/>
                <a:ea typeface="Consolas"/>
                <a:cs typeface="Consolas"/>
              </a:rPr>
              <a:t>          width="160" height="64"</a:t>
            </a:r>
          </a:p>
          <a:p xmlns:a="http://schemas.openxmlformats.org/drawingml/2006/main">
            <a:pPr algn="l">
              <a:defRPr sz="1050" b="0">
                <a:solidFill>
                  <a:srgbClr val="EA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AF4FF"/>
                </a:solidFill>
                <a:latin typeface="Consolas"/>
                <a:ea typeface="Consolas"/>
                <a:cs typeface="Consolas"/>
              </a:rPr>
              <a:t>          lineColor="#18C7E8"/&gt;</a:t>
            </a:r>
          </a:p>
          <a:p xmlns:a="http://schemas.openxmlformats.org/drawingml/2006/main">
            <a:pPr algn="l">
              <a:defRPr sz="1050" b="0">
                <a:solidFill>
                  <a:srgbClr val="EA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AF4FF"/>
                </a:solidFill>
                <a:latin typeface="Consolas"/>
                <a:ea typeface="Consolas"/>
                <a:cs typeface="Consolas"/>
              </a:rPr>
              <a:t>  &lt;/node&gt;</a:t>
            </a:r>
          </a:p>
          <a:p xmlns:a="http://schemas.openxmlformats.org/drawingml/2006/main">
            <a:pPr algn="l">
              <a:defRPr sz="1050" b="0">
                <a:solidFill>
                  <a:srgbClr val="EA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AF4FF"/>
                </a:solidFill>
                <a:latin typeface="Consolas"/>
                <a:ea typeface="Consolas"/>
                <a:cs typeface="Consolas"/>
              </a:rPr>
              <a:t>&lt;/mindmap&gt;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4738F6-59CB-4B00-B4C8-BB4EA4B7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5310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设计取舍：使用 XML 是为了便于课程展示、调试和手工检查；字段扩展后仍保持可读结构。</a:t>
            </a:r>
          </a:p>
        </p:txBody>
      </p:sp>
    </p:spTree>
    <p:extLst>
      <p:ext uri="{BB962C8B-B14F-4D97-AF65-F5344CB8AC3E}">
        <p14:creationId xmlns:p14="http://schemas.microsoft.com/office/powerpoint/2010/main" val="13906626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3FED0C-808D-447B-B1A3-33FCBA75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5BD2F-4911-47FA-B8DE-2079E20D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857250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3D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F9322-6DA7-4971-9A9E-F6972F4E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04775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E8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EF2DC-4A05-43BE-9D66-2DD78252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191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D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F3EB8-E927-4ECC-A28B-9CEE5F26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6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07615-96C0-433C-BCEF-633AFB8A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思维导图绘制工具课程答辩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B9A9C-9078-41B5-A458-1A56DBEE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E8FD1-2D5F-4A2E-A950-D0C17AA6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2ABE0BF9-7834-479C-A35A-812F8914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状态管理拆分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43A57-2746-4BC7-9A01-DA21F288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rPr>
              <a:t>撤销重做和查找替换从 Controller 中抽离后，编辑逻辑更稳定。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5EB9B2-39D9-4696-A12E-B224C6EF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EditHistory 负责命令栈；SearchState 负责搜索索引和替换算法。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3B151-6CA2-42D7-B078-8CFCB976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EditHistory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C9E942-536E-4BED-8672-A4CA507D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81250"/>
            <a:ext cx="17526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2F6BFF">
                <a:alpha val="50196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86521-462A-4845-AFE3-75FAB494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3842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execute(command)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B5466-40F8-418F-95C9-7E68998C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389FB-3E59-4A40-BFD6-AF684B29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7526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2F6BFF">
                <a:alpha val="50196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D1170-A74A-4BB4-9C15-A69E3365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3842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undoStack / redoStack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7C780-1440-4DFC-B944-CA973ADC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8130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6B6CE-2050-496F-8C97-9A392F08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7526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2F6BFF">
                <a:alpha val="50196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7C4F4-852A-46C2-B3E7-80C3A172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3842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undo() / redo()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74217-E4B0-47D3-8BE5-2E65A6C0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4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4F7B"/>
                </a:solidFill>
                <a:latin typeface="Microsoft YaHei"/>
                <a:ea typeface="Microsoft YaHei"/>
                <a:cs typeface="Microsoft YaHei"/>
              </a:rPr>
              <a:t>SearchState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05768F-80A8-400B-B71C-C2582F0E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05250"/>
            <a:ext cx="17526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FF4F7B">
                <a:alpha val="50196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4F71EC-B365-4FA2-8BA7-17D21CB4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6242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setKeyword()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9D111A-81EE-47F7-8C91-B4FEA8AF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0530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7B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18D22-6324-44D2-B615-2D306125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17526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FF4F7B">
                <a:alpha val="50196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E4887F-8965-4BFE-A8BE-7E28852A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matches / currentIndex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0C5199-5B6B-4746-9124-B61355FA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05300"/>
            <a:ext cx="5334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7B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8B8718-B6BF-4CD4-8D34-4312A7ED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17526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FF4F7B">
                <a:alpha val="50196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198E96-B0A5-409F-AE0C-69E1B3A2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6242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next() / replace()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B0F9E5-B4FE-44ED-8DB4-5BBF1C8B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10001250" cy="533400"/>
          </a:xfrm>
          <a:prstGeom xmlns:a="http://schemas.openxmlformats.org/drawingml/2006/main" prst="roundRect">
            <a:avLst>
              <a:gd name="adj" fmla="val 39286"/>
            </a:avLst>
          </a:prstGeom>
          <a:solidFill xmlns:a="http://schemas.openxmlformats.org/drawingml/2006/main">
            <a:srgbClr val="13233D">
              <a:alpha val="90980"/>
            </a:srgbClr>
          </a:solidFill>
          <a:ln xmlns:a="http://schemas.openxmlformats.org/drawingml/2006/main" w="9525">
            <a:solidFill>
              <a:srgbClr val="1323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40D7EC-DB98-47EA-9C01-4CCAA492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05450"/>
            <a:ext cx="908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效果：搜索定位不再误改未保存状态，撤销也不再恢复文件路径和缩放这类非编辑状态。</a:t>
            </a:r>
          </a:p>
        </p:txBody>
      </p:sp>
    </p:spTree>
    <p:extLst>
      <p:ext uri="{BB962C8B-B14F-4D97-AF65-F5344CB8AC3E}">
        <p14:creationId xmlns:p14="http://schemas.microsoft.com/office/powerpoint/2010/main" val="4973876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5A2F7A-8352-4F4D-8A5A-A8B35DB0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A6F21-30EC-4F6B-934E-0C42764F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857250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3D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4C872-93F8-4C3A-8482-F9464AB4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04775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E8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F407D-9B5E-4C38-9256-7D389466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191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D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A11AC-2EBE-429F-8BD8-7193278F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6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9A8A3-AAA6-4886-B484-2B53509F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思维导图绘制工具课程答辩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3BD12-B904-414D-B8EE-D2084EBC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BD06A9-A268-452A-AB9E-FA4E6E6F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0F375A72-445E-470E-8C9C-7303593A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画布渲染拆分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55BD3-E191-42D4-A989-A6338FE4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rPr>
              <a:t>MindMapCanvas 变成调度者，具体绘制能力交给专门类。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E2B7D-6690-4896-97A8-969B8F22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这是后期维护最关键的一次拆分：节点、连线、背景、快照互不挤在一个文件里。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F34B3-5EEE-4C91-B69F-5D232A58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2F6BFF">
                <a:alpha val="50196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116BF-CA14-4485-BBBF-C3096B6D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MindMapCanvas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8CD67-C488-41D7-A48D-0428DE1A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1581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刷新调度</a:t>
            </a:r>
          </a:p>
          <a:p xmlns:a="http://schemas.openxmlformats.org/drawingml/2006/main">
            <a:pPr algn="ctr">
              <a:def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视口缩放</a:t>
            </a:r>
          </a:p>
          <a:p xmlns:a="http://schemas.openxmlformats.org/drawingml/2006/main">
            <a:pPr algn="ctr">
              <a:def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画布尺寸</a:t>
            </a:r>
          </a:p>
          <a:p xmlns:a="http://schemas.openxmlformats.org/drawingml/2006/main">
            <a:pPr algn="ctr">
              <a:def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事件入口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399A6-9A2A-448B-A729-322C205F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00250"/>
            <a:ext cx="21907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FF4F7B">
                <a:alpha val="50196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724BF-E0D6-4F0C-B894-8BAB5267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28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4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4F7B"/>
                </a:solidFill>
                <a:latin typeface="Microsoft YaHei"/>
                <a:ea typeface="Microsoft YaHei"/>
                <a:cs typeface="Microsoft YaHei"/>
              </a:rPr>
              <a:t>NodeRenderer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0D755-53E2-4AE3-85A1-F42235B5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52700"/>
            <a:ext cx="1390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节点绘制</a:t>
            </a:r>
          </a:p>
          <a:p xmlns:a="http://schemas.openxmlformats.org/drawingml/2006/main">
            <a:pPr algn="ctr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内联编辑</a:t>
            </a:r>
          </a:p>
          <a:p xmlns:a="http://schemas.openxmlformats.org/drawingml/2006/main">
            <a:pPr algn="ctr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缩放控制点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2220D-D8B1-4CBB-950F-632ABA60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000250"/>
            <a:ext cx="21907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FF7A3D">
                <a:alpha val="50196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6AE03-0386-4B04-BA83-C076D2F5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7A3D"/>
                </a:solidFill>
                <a:latin typeface="Microsoft YaHei"/>
                <a:ea typeface="Microsoft YaHei"/>
                <a:cs typeface="Microsoft YaHei"/>
              </a:rPr>
              <a:t>ConnectionRenderer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43E6A0-3421-4EC0-8854-4A495B15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52700"/>
            <a:ext cx="1390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曲线/折线</a:t>
            </a:r>
          </a:p>
          <a:p xmlns:a="http://schemas.openxmlformats.org/drawingml/2006/main">
            <a:pPr algn="ctr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选中反馈</a:t>
            </a:r>
          </a:p>
          <a:p xmlns:a="http://schemas.openxmlformats.org/drawingml/2006/main">
            <a:pPr algn="ctr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局部更新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6BC76-25F5-4E69-AE32-FF20D187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21907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57C86A">
                <a:alpha val="50196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88513-E23E-4A86-93F9-B82C5B2F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7C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7C86A"/>
                </a:solidFill>
                <a:latin typeface="Microsoft YaHei"/>
                <a:ea typeface="Microsoft YaHei"/>
                <a:cs typeface="Microsoft YaHei"/>
              </a:rPr>
              <a:t>CanvasBackground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07CA3-F979-44A0-8252-CA8CB3FA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43450"/>
            <a:ext cx="1390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背景色</a:t>
            </a:r>
          </a:p>
          <a:p xmlns:a="http://schemas.openxmlformats.org/drawingml/2006/main">
            <a:pPr algn="ctr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背景图</a:t>
            </a:r>
          </a:p>
          <a:p xmlns:a="http://schemas.openxmlformats.org/drawingml/2006/main">
            <a:pPr algn="ctr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CSS 应用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741939-6C25-4F72-BA55-977CFEF9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91000"/>
            <a:ext cx="219075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865DFF">
                <a:alpha val="50196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A27B0E-5EC0-4D96-9B9C-8F88B409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19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65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865DFF"/>
                </a:solidFill>
                <a:latin typeface="Microsoft YaHei"/>
                <a:ea typeface="Microsoft YaHei"/>
                <a:cs typeface="Microsoft YaHei"/>
              </a:rPr>
              <a:t>CanvasSnapshotter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98A19B-61A0-47A3-8720-48D86A38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43450"/>
            <a:ext cx="1390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高清快照</a:t>
            </a:r>
          </a:p>
          <a:p xmlns:a="http://schemas.openxmlformats.org/drawingml/2006/main">
            <a:pPr algn="ctr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背景补齐</a:t>
            </a:r>
          </a:p>
          <a:p xmlns:a="http://schemas.openxmlformats.org/drawingml/2006/main">
            <a:pPr algn="ctr">
              <a:def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导出支持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2E6BC9-D165-462A-B5FF-426D498A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762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A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6B8EA9-5B98-4B61-83AC-0A53068B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90800"/>
            <a:ext cx="381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A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E4F5E6-34E7-4676-9365-3DEBD5C6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90800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A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11E5AF-AA96-49A5-96C2-F11627A0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38100" cy="1600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A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DEC8AD-364C-4D11-A8B0-8255E6F1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91075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A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A44C0A-8B42-4170-A619-710A8960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19450"/>
            <a:ext cx="3619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A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02A0C5-BE3C-4C1F-BBA3-FEB0E835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90800"/>
            <a:ext cx="381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A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8CB3CC-716D-4AD4-BD21-8ABAEF12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90800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A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F53435-C71B-4009-B17A-26B46686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19450"/>
            <a:ext cx="38100" cy="1600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A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48071D-6B42-4228-B226-075CCAED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91075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3A7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401143-1D89-4DE4-A62F-DC0DC393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29300"/>
            <a:ext cx="786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拆分后的类名也同步写入需求设计文档和开发问题记录，方便答辩时追溯。</a:t>
            </a:r>
          </a:p>
        </p:txBody>
      </p:sp>
    </p:spTree>
    <p:extLst>
      <p:ext uri="{BB962C8B-B14F-4D97-AF65-F5344CB8AC3E}">
        <p14:creationId xmlns:p14="http://schemas.microsoft.com/office/powerpoint/2010/main" val="10161353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504F1C-8051-4198-86C9-2F8498BC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1AB01-AA86-45E8-A500-B3421FD6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857250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3D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020D5-E7DE-4691-9BEF-C8EFDD1E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04775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E8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DF874-930B-41F6-9369-AD5EEA76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191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D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16F08-4288-4982-966A-D5C6E449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6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E65D8-40A3-4288-8135-DE427CC5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思维导图绘制工具课程答辩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2CF89-97AD-4678-8113-616BAB0E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E42EB-8D3C-461E-A7F1-4A589988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AD261411-FA03-41BB-B188-44348BAD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界面与导出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144C9-FA87-4A9B-9375-7D39E1CD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rPr>
              <a:t>界面以 Ribbon、画布、结构栏和状态栏组织完整工作区。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64A3B-F236-4120-93FC-C84C5B87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导出时先生成包含背景的高清快照，再写入 PNG/JPG/PDF。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b67d605934483"/>
          <a:stretch xmlns:a="http://schemas.openxmlformats.org/drawingml/2006/main"/>
        </p:blipFill>
        <p:spPr>
          <a:xfrm xmlns:a="http://schemas.openxmlformats.org/drawingml/2006/main">
            <a:off x="928688" y="2076450"/>
            <a:ext cx="5857875" cy="3905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1BD96-4C1B-493E-A6B0-F48DA56F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42900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DE6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F50A7-6364-4F66-BF59-26CBA37D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导出链路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365F2-57E2-4E48-8E3F-F7385520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2476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>
              <a:alpha val="8627"/>
            </a:srgbClr>
          </a:solidFill>
          <a:ln xmlns:a="http://schemas.openxmlformats.org/drawingml/2006/main" w="9525">
            <a:solidFill>
              <a:srgbClr val="2F6BFF">
                <a:alpha val="50196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A1EAE-233C-47C4-9190-A5D4F8E4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1467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计算可见节点边界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A9D67-F11B-4691-8C64-287FB2A1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90900"/>
            <a:ext cx="381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70094-BAC4-4A9A-B1A0-30D9D850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2476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7B">
              <a:alpha val="8627"/>
            </a:srgbClr>
          </a:solidFill>
          <a:ln xmlns:a="http://schemas.openxmlformats.org/drawingml/2006/main" w="9525">
            <a:solidFill>
              <a:srgbClr val="FF4F7B">
                <a:alpha val="50196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7B92D-49F8-4DB2-A7FD-FB0621C2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CanvasSnapshotter 生成高清图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CF089D-E8CD-453E-8BD5-9CD0CD3D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43350"/>
            <a:ext cx="381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7B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EB071-4FED-401C-A875-324734D6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33850"/>
            <a:ext cx="2476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D">
              <a:alpha val="8627"/>
            </a:srgbClr>
          </a:solidFill>
          <a:ln xmlns:a="http://schemas.openxmlformats.org/drawingml/2006/main" w="9525">
            <a:solidFill>
              <a:srgbClr val="FF7A3D">
                <a:alpha val="50196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5F3209-42AB-4CE2-AD9D-D7F226B5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957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补画布背景色 / 背景图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CCCEF-1638-4930-A9B3-74623C56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95800"/>
            <a:ext cx="381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A3D">
              <a:alpha val="5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7E073F-AFA2-4123-A782-27FFA613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86300"/>
            <a:ext cx="2476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C86A">
              <a:alpha val="8627"/>
            </a:srgbClr>
          </a:solidFill>
          <a:ln xmlns:a="http://schemas.openxmlformats.org/drawingml/2006/main" w="9525">
            <a:solidFill>
              <a:srgbClr val="57C86A">
                <a:alpha val="50196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85F80F-AD36-4C91-AA50-8577571D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72025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写入 PNG、JPG 或 PDF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64D62-D1C8-4FA4-AD1C-A89B6544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101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导出期间显示进度窗口，避免大图写入时用户误判程序卡住。</a:t>
            </a:r>
          </a:p>
        </p:txBody>
      </p:sp>
    </p:spTree>
    <p:extLst>
      <p:ext uri="{BB962C8B-B14F-4D97-AF65-F5344CB8AC3E}">
        <p14:creationId xmlns:p14="http://schemas.microsoft.com/office/powerpoint/2010/main" val="9592788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5DD27F-914C-4D4A-A23E-6D37FE06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788D6-89AD-483F-A139-57266C01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-857250"/>
            <a:ext cx="4000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3D">
              <a:alpha val="1098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4DF1-6E2D-45E7-9C38-E04E26E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-104775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E8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6897A-1D35-464F-A80E-D6471B37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62500"/>
            <a:ext cx="4191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D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EF545-CF5A-497B-82CB-78889422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14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6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23428-755C-441C-887B-83BED668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思维导图绘制工具课程答辩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0A743-A2D9-4FFB-B653-00933083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3819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E3E37-43FA-4920-8DCD-50C1BBB4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71A8E1E8-01E7-4FCE-BC08-B105855B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系统测试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13D646-5631-4D4A-A5E5-80DE0D5A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rPr>
              <a:t>自动化测试集中覆盖最容易回归的编辑行为。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69D8C-0610-4E31-8003-54323991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当前记录中 .\mvnw.cmd test 的结果为 13 个 JUnit 测试全部通过。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B6927-6250-421E-8780-8123B716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57175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57C86A">
                <a:alpha val="50196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9983A-12B2-425F-B944-AED231AF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7C8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57C86A"/>
                </a:solidFill>
                <a:latin typeface="Microsoft YaHei UI"/>
                <a:ea typeface="Microsoft YaHei UI"/>
                <a:cs typeface="Microsoft YaHei UI"/>
              </a:rPr>
              <a:t>13 / 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06E84-24DC-4D02-A41E-2538944A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JUnit 测试通过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06EF9-1B4D-41C2-8F75-D848FEC5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作为课程论文“系统测试”章节依据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C3A0A-68CE-4152-8C06-8C97BE79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09800"/>
            <a:ext cx="257175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2F6BFF">
                <a:alpha val="50196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6AE2F-8BFA-4507-9247-1DDF25EF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B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2F6BFF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9373B2-E98C-4592-80B5-51654D80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测试类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14EC8B-D0D5-4D32-91A0-3F9EF678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527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行为、历史、搜索、几何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A86A9B-FCC6-4237-BFE8-44CBF7E3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257175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FF4F7B">
                <a:alpha val="50196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2FE9C-54C6-4041-9D9F-E1074EBA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4F7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F4F7B"/>
                </a:solidFill>
                <a:latin typeface="Microsoft YaHei UI"/>
                <a:ea typeface="Microsoft YaHei UI"/>
                <a:cs typeface="Microsoft YaHei UI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97520-A14E-4758-8F9D-6144B0E2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已知失败用例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25951-C4E2-4D18-8AE6-69F49E76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当前交付前未修改 Java 源码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7F72C6-B61C-4B8F-82B4-2AEFC737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0477500" cy="163830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FFFFF">
              <a:alpha val="91765"/>
            </a:srgbClr>
          </a:solidFill>
          <a:ln xmlns:a="http://schemas.openxmlformats.org/drawingml/2006/main" w="9525">
            <a:solidFill>
              <a:srgbClr val="DDE6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5BC0FA-5070-4B41-BDFE-677E2F2A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6BFF"/>
                </a:solidFill>
                <a:latin typeface="Microsoft YaHei"/>
                <a:ea typeface="Microsoft YaHei"/>
                <a:cs typeface="Microsoft YaHei"/>
              </a:rPr>
              <a:t>MindMapBehaviorTest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630862-B455-413B-905F-1ACEE038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撤销范围、子树移动、自动布局、文件读取根规则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CB3C3-0D0C-4CF2-8282-00184701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7B"/>
                </a:solidFill>
                <a:latin typeface="Microsoft YaHei"/>
                <a:ea typeface="Microsoft YaHei"/>
                <a:cs typeface="Microsoft YaHei"/>
              </a:rPr>
              <a:t>EditHistoryTest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4943E3-BC56-4A47-82DC-21E8D114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053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命令执行顺序、undo/redo 栈状态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E9464F-C2DB-4A86-BC58-57378EDD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A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7A3D"/>
                </a:solidFill>
                <a:latin typeface="Microsoft YaHei"/>
                <a:ea typeface="Microsoft YaHei"/>
                <a:cs typeface="Microsoft YaHei"/>
              </a:rPr>
              <a:t>SearchStateTest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67EDB1-1CF7-4730-A4D4-769AD853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291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搜索索引、大小写忽略替换、全部替换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F8EAE1-E046-4000-8F5F-2283C1EB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65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65DFF"/>
                </a:solidFill>
                <a:latin typeface="Microsoft YaHei"/>
                <a:ea typeface="Microsoft YaHei"/>
                <a:cs typeface="Microsoft YaHei"/>
              </a:rPr>
              <a:t>GeometryUtilsTest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00CFC9-703A-4BDB-B530-E9DDC585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530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节点和连接线框选命中、几何变化判断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1AB3BC-4ADF-4929-A906-5E0370BB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29300"/>
            <a:ext cx="792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13A"/>
                </a:solidFill>
                <a:latin typeface="Microsoft YaHei"/>
                <a:ea typeface="Microsoft YaHei"/>
                <a:cs typeface="Microsoft YaHei"/>
              </a:rPr>
              <a:t>测试重点不是追求数量，而是锁住“拆分后最容易坏”的行为契约。</a:t>
            </a:r>
          </a:p>
        </p:txBody>
      </p:sp>
    </p:spTree>
    <p:extLst>
      <p:ext uri="{BB962C8B-B14F-4D97-AF65-F5344CB8AC3E}">
        <p14:creationId xmlns:p14="http://schemas.microsoft.com/office/powerpoint/2010/main" val="4168466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B2A5E4-51C6-4B38-AB06-A5F17892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ff9b8d7604b5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0CCAB-389D-45C8-8DE2-24726038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FCBAE-7739-4AEA-81D3-EC5AAD51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1213A"/>
                </a:solidFill>
                <a:latin typeface="Microsoft YaHei UI"/>
                <a:ea typeface="Microsoft YaHei UI"/>
                <a:cs typeface="Microsoft YaHei UI"/>
              </a:rPr>
              <a:t>总结与展望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7A56E-50ED-4C8C-96A2-53DF5442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666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项目完成了课程要求的核心链路，并在交互、导出和代码结构上做了扩展。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F5C7A-3F69-41C9-9FE1-36C37E79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762500" cy="2647950"/>
          </a:xfrm>
          <a:prstGeom xmlns:a="http://schemas.openxmlformats.org/drawingml/2006/main" prst="roundRect">
            <a:avLst>
              <a:gd name="adj" fmla="val 935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DE6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41648-6BBA-4635-8AD8-6E8BC773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762500" cy="2647950"/>
          </a:xfrm>
          <a:prstGeom xmlns:a="http://schemas.openxmlformats.org/drawingml/2006/main" prst="roundRect">
            <a:avLst>
              <a:gd name="adj" fmla="val 9353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DE6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E7279-DBFE-4DD4-80B4-B4CB3558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C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7C86A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F9BB1-AF54-49FB-AA80-95172BA5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C8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5F99B-603A-42EF-AD0A-D78F90E8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051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从基础导图到完整桌面编辑器体验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2CF93-BBE3-43BC-A135-CACA7BD6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67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E8F08-8524-446E-BEFC-ADA66DE0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节点、连接线、画布背景和导出状态可持久化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B28EC-FC8B-4FF3-8925-799B7F4D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62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05D77-A540-43D8-9A1D-843D3884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957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通过类拆分提升后续维护定位效率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D95EA-4E67-4EED-8DF6-DFE36C00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71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7B"/>
                </a:solidFill>
                <a:latin typeface="Microsoft YaHei"/>
                <a:ea typeface="Microsoft YaHei"/>
                <a:cs typeface="Microsoft YaHei"/>
              </a:rPr>
              <a:t>后续方向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4FBE4-801A-4E58-B84A-9B559993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F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C7488-0277-4FE2-94AC-52B19622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补充真实运行截图和演示录屏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ACCB8-AF9A-4F3E-B3FC-6901B43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67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72C51D-B9E2-4957-8E8F-BA8FAF76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优化大规模导图布局性能和样式模板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102EC-9E02-4704-84DA-7D475139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62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2553D-1269-4AF7-B2CC-76AEF848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3448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4324B"/>
                </a:solidFill>
                <a:latin typeface="Microsoft YaHei"/>
                <a:ea typeface="Microsoft YaHei"/>
                <a:cs typeface="Microsoft YaHei"/>
              </a:rPr>
              <a:t>扩展导入导出格式或云端同步能力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135FF-15E9-4D21-BF7F-330531A2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57850"/>
            <a:ext cx="51816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33D">
              <a:alpha val="90980"/>
            </a:srgbClr>
          </a:solidFill>
          <a:ln xmlns:a="http://schemas.openxmlformats.org/drawingml/2006/main" w="9525">
            <a:solidFill>
              <a:srgbClr val="13233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A6D22D-AF60-412A-8A25-6753AB41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00725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答辩结束，谢谢！</a:t>
            </a:r>
          </a:p>
        </p:txBody>
      </p:sp>
    </p:spTree>
    <p:extLst>
      <p:ext uri="{BB962C8B-B14F-4D97-AF65-F5344CB8AC3E}">
        <p14:creationId xmlns:p14="http://schemas.microsoft.com/office/powerpoint/2010/main" val="1038658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2026-05-12T12:41:30.5770000Z</dcterms:created>
  <dcterms:modified xsi:type="dcterms:W3CDTF">2026-05-12T12:41:30.5770000Z</dcterms:modified>
</coreProperties>
</file>